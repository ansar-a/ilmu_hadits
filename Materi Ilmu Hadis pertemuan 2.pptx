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3" autoAdjust="0"/>
    <p:restoredTop sz="94660"/>
  </p:normalViewPr>
  <p:slideViewPr>
    <p:cSldViewPr>
      <p:cViewPr>
        <p:scale>
          <a:sx n="51" d="100"/>
          <a:sy n="51" d="100"/>
        </p:scale>
        <p:origin x="-19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34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1074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953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230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55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0172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81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342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069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34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6712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8400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4738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894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498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7290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282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9AF9E-C3CC-4805-B029-C45AC5F4A57C}" type="datetimeFigureOut">
              <a:rPr lang="en-ID" smtClean="0"/>
              <a:t>23/03/2022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DBDF1-E2BB-4CF9-BCEB-C230B58107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5727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A5E5-F622-4EB5-BA03-8F4F5420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916832"/>
            <a:ext cx="9001462" cy="2387600"/>
          </a:xfrm>
        </p:spPr>
        <p:txBody>
          <a:bodyPr>
            <a:normAutofit/>
          </a:bodyPr>
          <a:lstStyle/>
          <a:p>
            <a:r>
              <a:rPr lang="en-US" dirty="0"/>
              <a:t>PENGANTAR ILMU HADITS, HADITS DAN KEDUDUKAN HADITS DALAM ISLAM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9824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BC1E-4E32-4C25-86DB-DCD9C10C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ADBB-90D8-4C67-A951-4725E43B4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Etimologi</a:t>
            </a:r>
            <a:r>
              <a:rPr lang="en-US" dirty="0"/>
              <a:t>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'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Uum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Hadits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terdiri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dua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kata,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yaitu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'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ulum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dart al-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Hadits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 </a:t>
            </a:r>
            <a:r>
              <a:rPr lang="pl-PL" sz="1800" b="0" i="0" u="none" strike="noStrike" baseline="0" dirty="0">
                <a:latin typeface="Arial" panose="020B0604020202020204" pitchFamily="34" charset="0"/>
              </a:rPr>
              <a:t>Kata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pl-PL" sz="1800" b="0" i="0" u="none" strike="noStrike" baseline="0" dirty="0">
                <a:latin typeface="Arial" panose="020B0604020202020204" pitchFamily="34" charset="0"/>
              </a:rPr>
              <a:t>'ulum dalam bahasa Arab adalah bentuk jamak dari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'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ilm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jadi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berarti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"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ilmu-ilmu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";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sedangkan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Hadits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di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kalangan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Ulama Hadis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berarti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"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segala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sesuatu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yang </a:t>
            </a:r>
            <a:r>
              <a:rPr lang="fi-FI" sz="1800" b="0" i="0" u="none" strike="noStrike" baseline="0" dirty="0">
                <a:latin typeface="Arial" panose="020B0604020202020204" pitchFamily="34" charset="0"/>
              </a:rPr>
              <a:t>disandarkan kepada Nabi SAW dari perkataan, perbuatan,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taqrir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sifat</a:t>
            </a:r>
            <a:endParaRPr lang="en-ID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r>
              <a:rPr lang="en-ID" sz="1800" dirty="0" err="1">
                <a:latin typeface="Arial" panose="020B0604020202020204" pitchFamily="34" charset="0"/>
              </a:rPr>
              <a:t>G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abungan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kata ‘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ulum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al-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Hadits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mengandung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pengertian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"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ilmu-ilmu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yang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membahas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berkaitan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dengan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Hadis Nabi SAW.</a:t>
            </a:r>
          </a:p>
          <a:p>
            <a:pPr algn="l"/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adalah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pengetahuan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tentang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kaidah-kaidah</a:t>
            </a:r>
            <a:r>
              <a:rPr lang="en-ID" sz="1800" b="0" i="0" u="none" strike="noStrike" baseline="0" dirty="0">
                <a:latin typeface="TimesNewRomanPSMT"/>
              </a:rPr>
              <a:t> yang </a:t>
            </a:r>
            <a:r>
              <a:rPr lang="en-ID" sz="1800" b="0" i="0" u="none" strike="noStrike" baseline="0" dirty="0" err="1">
                <a:latin typeface="TimesNewRomanPSMT"/>
              </a:rPr>
              <a:t>mengantarkan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kepada</a:t>
            </a:r>
            <a:r>
              <a:rPr lang="en-ID" sz="180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pengetahuan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tentang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rāwī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0" u="none" strike="noStrike" baseline="0" dirty="0">
                <a:latin typeface="TimesNewRomanPSMT"/>
              </a:rPr>
              <a:t>(</a:t>
            </a:r>
            <a:r>
              <a:rPr lang="en-ID" sz="1800" b="0" i="0" u="none" strike="noStrike" baseline="0" dirty="0" err="1">
                <a:latin typeface="TimesNewRomanPSMT"/>
              </a:rPr>
              <a:t>periwayat</a:t>
            </a:r>
            <a:r>
              <a:rPr lang="en-ID" sz="1800" b="0" i="0" u="none" strike="noStrike" baseline="0" dirty="0">
                <a:latin typeface="TimesNewRomanPSMT"/>
              </a:rPr>
              <a:t>) dan </a:t>
            </a:r>
            <a:r>
              <a:rPr lang="en-ID" sz="1800" b="0" i="1" u="none" strike="noStrike" baseline="0" dirty="0" err="1">
                <a:latin typeface="TimesNewRomanPS-ItalicMT"/>
              </a:rPr>
              <a:t>marwī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0" u="none" strike="noStrike" baseline="0" dirty="0">
                <a:latin typeface="TimesNewRomanPSMT"/>
              </a:rPr>
              <a:t>(yang </a:t>
            </a:r>
            <a:r>
              <a:rPr lang="en-ID" sz="1800" b="0" i="0" u="none" strike="noStrike" baseline="0" dirty="0" err="1">
                <a:latin typeface="TimesNewRomanPSMT"/>
              </a:rPr>
              <a:t>diriwayatkan</a:t>
            </a:r>
            <a:r>
              <a:rPr lang="en-ID" sz="1800" b="0" i="0" u="none" strike="noStrike" baseline="0" dirty="0">
                <a:latin typeface="TimesNewRomanPSMT"/>
              </a:rPr>
              <a:t>), </a:t>
            </a:r>
            <a:r>
              <a:rPr lang="en-ID" sz="1800" b="0" i="0" u="none" strike="noStrike" baseline="0" dirty="0" err="1">
                <a:latin typeface="TimesNewRomanPSMT"/>
              </a:rPr>
              <a:t>atau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tentang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kaidah-kaidah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untuk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mengetahui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kondisi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sanad</a:t>
            </a:r>
            <a:r>
              <a:rPr lang="en-ID" sz="1800" b="0" i="0" u="none" strike="noStrike" baseline="0" dirty="0">
                <a:latin typeface="TimesNewRomanPSMT"/>
              </a:rPr>
              <a:t> dan </a:t>
            </a:r>
            <a:r>
              <a:rPr lang="en-ID" sz="1800" b="0" i="0" u="none" strike="noStrike" baseline="0" dirty="0" err="1">
                <a:latin typeface="TimesNewRomanPSMT"/>
              </a:rPr>
              <a:t>matan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116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BAB8-359A-4775-8A06-D19B61E1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Cabang-</a:t>
            </a:r>
            <a:r>
              <a:rPr lang="en-US" dirty="0" err="1"/>
              <a:t>cabang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6D350-E1AB-4692-83BB-7E4EDE97D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dibagi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menjadi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dua</a:t>
            </a:r>
            <a:r>
              <a:rPr lang="en-ID" sz="1800" b="0" i="0" u="none" strike="noStrike" baseline="0" dirty="0">
                <a:latin typeface="TimesNewRomanPSMT"/>
              </a:rPr>
              <a:t>. </a:t>
            </a:r>
            <a:r>
              <a:rPr lang="en-ID" sz="1800" b="0" i="0" u="none" strike="noStrike" baseline="0" dirty="0" err="1">
                <a:latin typeface="TimesNewRomanPSMT"/>
              </a:rPr>
              <a:t>Pertama</a:t>
            </a:r>
            <a:r>
              <a:rPr lang="en-ID" sz="1800" b="0" i="0" u="none" strike="noStrike" baseline="0" dirty="0">
                <a:latin typeface="TimesNewRomanPSMT"/>
              </a:rPr>
              <a:t>, 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riwāyah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yakni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yang </a:t>
            </a:r>
            <a:r>
              <a:rPr lang="es-ES" sz="1800" b="0" i="0" u="none" strike="noStrike" baseline="0" dirty="0" err="1">
                <a:latin typeface="TimesNewRomanPSMT"/>
              </a:rPr>
              <a:t>membahas</a:t>
            </a:r>
            <a:r>
              <a:rPr lang="es-ES" sz="1800" b="0" i="0" u="none" strike="noStrike" baseline="0" dirty="0">
                <a:latin typeface="TimesNewRomanPSMT"/>
              </a:rPr>
              <a:t> </a:t>
            </a:r>
            <a:r>
              <a:rPr lang="es-ES" sz="1800" b="0" i="0" u="none" strike="noStrike" baseline="0" dirty="0" err="1">
                <a:latin typeface="TimesNewRomanPSMT"/>
              </a:rPr>
              <a:t>tentang</a:t>
            </a:r>
            <a:r>
              <a:rPr lang="es-ES" sz="1800" b="0" i="0" u="none" strike="noStrike" baseline="0" dirty="0">
                <a:latin typeface="TimesNewRomanPSMT"/>
              </a:rPr>
              <a:t> tata cara </a:t>
            </a:r>
            <a:r>
              <a:rPr lang="es-ES" sz="1800" b="0" i="0" u="none" strike="noStrike" baseline="0" dirty="0" err="1">
                <a:latin typeface="TimesNewRomanPSMT"/>
              </a:rPr>
              <a:t>periwayatan</a:t>
            </a:r>
            <a:r>
              <a:rPr lang="es-ES" sz="1800" b="0" i="0" u="none" strike="noStrike" baseline="0" dirty="0">
                <a:latin typeface="TimesNewRomanPSMT"/>
              </a:rPr>
              <a:t>, </a:t>
            </a:r>
            <a:r>
              <a:rPr lang="es-ES" sz="1800" b="0" i="0" u="none" strike="noStrike" baseline="0" dirty="0" err="1">
                <a:latin typeface="TimesNewRomanPSMT"/>
              </a:rPr>
              <a:t>pemeliharaan</a:t>
            </a:r>
            <a:r>
              <a:rPr lang="es-ES" sz="1800" b="0" i="0" u="none" strike="noStrike" baseline="0" dirty="0">
                <a:latin typeface="TimesNewRomanPSMT"/>
              </a:rPr>
              <a:t>, dan </a:t>
            </a:r>
            <a:r>
              <a:rPr lang="es-ES" sz="1800" b="0" i="0" u="none" strike="noStrike" baseline="0" dirty="0" err="1">
                <a:latin typeface="TimesNewRomanPSMT"/>
              </a:rPr>
              <a:t>pengkodifikasian</a:t>
            </a:r>
            <a:r>
              <a:rPr lang="es-ES" sz="1800" b="0" i="0" u="none" strike="noStrike" baseline="0" dirty="0">
                <a:latin typeface="TimesNewRomanPSMT"/>
              </a:rPr>
              <a:t> </a:t>
            </a:r>
            <a:r>
              <a:rPr lang="es-ES" sz="1800" b="0" i="0" u="none" strike="noStrike" baseline="0" dirty="0" err="1">
                <a:latin typeface="TimesNewRomanPSMT"/>
              </a:rPr>
              <a:t>hadis</a:t>
            </a:r>
            <a:r>
              <a:rPr lang="es-ES" sz="1800" b="0" i="0" u="none" strike="noStrike" baseline="0" dirty="0">
                <a:latin typeface="TimesNewRomanPSMT"/>
              </a:rPr>
              <a:t>. </a:t>
            </a:r>
            <a:r>
              <a:rPr lang="en-ID" sz="1800" b="0" i="0" u="none" strike="noStrike" baseline="0" dirty="0">
                <a:latin typeface="TimesNewRomanPSMT"/>
              </a:rPr>
              <a:t>Nabi saw. </a:t>
            </a:r>
            <a:r>
              <a:rPr lang="en-ID" sz="1800" b="0" i="0" u="none" strike="noStrike" baseline="0" dirty="0" err="1">
                <a:latin typeface="TimesNewRomanPSMT"/>
              </a:rPr>
              <a:t>Kedua</a:t>
            </a:r>
            <a:r>
              <a:rPr lang="en-ID" sz="1800" b="0" i="0" u="none" strike="noStrike" baseline="0" dirty="0">
                <a:latin typeface="TimesNewRomanPSMT"/>
              </a:rPr>
              <a:t>, 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dirāyah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yaitu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kumpulan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kaidah-kaidah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untuk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mengetahui</a:t>
            </a:r>
            <a:r>
              <a:rPr lang="en-ID" sz="180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keadaan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rawi</a:t>
            </a:r>
            <a:r>
              <a:rPr lang="en-ID" sz="1800" b="0" i="0" u="none" strike="noStrike" baseline="0" dirty="0">
                <a:latin typeface="TimesNewRomanPSMT"/>
              </a:rPr>
              <a:t> dan </a:t>
            </a:r>
            <a:r>
              <a:rPr lang="en-ID" sz="1800" b="0" i="0" u="none" strike="noStrike" baseline="0" dirty="0" err="1">
                <a:latin typeface="TimesNewRomanPSMT"/>
              </a:rPr>
              <a:t>sesuatu</a:t>
            </a:r>
            <a:r>
              <a:rPr lang="en-ID" sz="1800" b="0" i="0" u="none" strike="noStrike" baseline="0" dirty="0">
                <a:latin typeface="TimesNewRomanPSMT"/>
              </a:rPr>
              <a:t> yang </a:t>
            </a:r>
            <a:r>
              <a:rPr lang="en-ID" sz="1800" b="0" i="0" u="none" strike="noStrike" baseline="0" dirty="0" err="1">
                <a:latin typeface="TimesNewRomanPSMT"/>
              </a:rPr>
              <a:t>diriwayatkan</a:t>
            </a:r>
            <a:r>
              <a:rPr lang="en-ID" sz="1800" b="0" i="0" u="none" strike="noStrike" baseline="0" dirty="0">
                <a:latin typeface="TimesNewRomanPSMT"/>
              </a:rPr>
              <a:t> (</a:t>
            </a:r>
            <a:r>
              <a:rPr lang="en-ID" sz="1800" b="0" i="0" u="none" strike="noStrike" baseline="0" dirty="0" err="1">
                <a:latin typeface="TimesNewRomanPSMT"/>
              </a:rPr>
              <a:t>keadaan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sanad</a:t>
            </a:r>
            <a:r>
              <a:rPr lang="en-ID" sz="1800" b="0" i="0" u="none" strike="noStrike" baseline="0" dirty="0">
                <a:latin typeface="TimesNewRomanPSMT"/>
              </a:rPr>
              <a:t> dan </a:t>
            </a:r>
            <a:r>
              <a:rPr lang="en-ID" sz="1800" b="0" i="0" u="none" strike="noStrike" baseline="0" dirty="0" err="1">
                <a:latin typeface="TimesNewRomanPSMT"/>
              </a:rPr>
              <a:t>matan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).</a:t>
            </a:r>
          </a:p>
          <a:p>
            <a:pPr algn="l"/>
            <a:r>
              <a:rPr lang="en-ID" sz="1800" b="0" i="0" u="none" strike="noStrike" baseline="0" dirty="0">
                <a:latin typeface="TimesNewRomanPSMT"/>
              </a:rPr>
              <a:t>Dari </a:t>
            </a:r>
            <a:r>
              <a:rPr lang="en-ID" sz="1800" b="0" i="0" u="none" strike="noStrike" baseline="0" dirty="0" err="1">
                <a:latin typeface="TimesNewRomanPSMT"/>
              </a:rPr>
              <a:t>kedua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pokok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tersebut</a:t>
            </a:r>
            <a:r>
              <a:rPr lang="en-ID" sz="1800" b="0" i="0" u="none" strike="noStrike" baseline="0" dirty="0">
                <a:latin typeface="TimesNewRomanPSMT"/>
              </a:rPr>
              <a:t> (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riwayah</a:t>
            </a:r>
            <a:r>
              <a:rPr lang="en-ID" sz="1800" b="0" i="0" u="none" strike="noStrike" baseline="0" dirty="0">
                <a:latin typeface="TimesNewRomanPSMT"/>
              </a:rPr>
              <a:t> dan </a:t>
            </a:r>
            <a:r>
              <a:rPr lang="en-ID" sz="1800" b="0" i="0" u="none" strike="noStrike" baseline="0" dirty="0" err="1">
                <a:latin typeface="TimesNewRomanPSMT"/>
              </a:rPr>
              <a:t>dirayah</a:t>
            </a:r>
            <a:r>
              <a:rPr lang="en-ID" sz="1800" b="0" i="0" u="none" strike="noStrike" baseline="0" dirty="0">
                <a:latin typeface="TimesNewRomanPSMT"/>
              </a:rPr>
              <a:t>) </a:t>
            </a:r>
            <a:r>
              <a:rPr lang="en-ID" sz="1800" b="0" i="0" u="none" strike="noStrike" baseline="0" dirty="0" err="1">
                <a:latin typeface="TimesNewRomanPSMT"/>
              </a:rPr>
              <a:t>muncullah</a:t>
            </a:r>
            <a:r>
              <a:rPr lang="en-ID" sz="180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berbagai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macam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cabang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ilmu</a:t>
            </a:r>
            <a:r>
              <a:rPr lang="en-ID" sz="1800" b="0" i="0" u="none" strike="noStrike" baseline="0" dirty="0">
                <a:latin typeface="TimesNewRomanPSMT"/>
              </a:rPr>
              <a:t> </a:t>
            </a:r>
            <a:r>
              <a:rPr lang="en-ID" sz="1800" b="0" i="0" u="none" strike="noStrike" baseline="0" dirty="0" err="1">
                <a:latin typeface="TimesNewRomanPSMT"/>
              </a:rPr>
              <a:t>hadis</a:t>
            </a:r>
            <a:r>
              <a:rPr lang="en-ID" sz="1800" b="0" i="0" u="none" strike="noStrike" baseline="0" dirty="0">
                <a:latin typeface="TimesNewRomanPSMT"/>
              </a:rPr>
              <a:t>, </a:t>
            </a:r>
            <a:r>
              <a:rPr lang="en-ID" sz="1800" b="0" i="0" u="none" strike="noStrike" baseline="0" dirty="0" err="1">
                <a:latin typeface="TimesNewRomanPSMT"/>
              </a:rPr>
              <a:t>antara</a:t>
            </a:r>
            <a:r>
              <a:rPr lang="en-ID" sz="1800" b="0" i="0" u="none" strike="noStrike" baseline="0" dirty="0">
                <a:latin typeface="TimesNewRomanPSMT"/>
              </a:rPr>
              <a:t> lain;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Rijāl</a:t>
            </a:r>
            <a:r>
              <a:rPr lang="en-ID" sz="1800" b="0" i="1" u="none" strike="noStrike" baseline="0" dirty="0">
                <a:latin typeface="TimesNewRomanPS-ItalicMT"/>
              </a:rPr>
              <a:t> al-</a:t>
            </a:r>
            <a:r>
              <a:rPr lang="en-ID" sz="1800" b="0" i="1" u="none" strike="noStrike" baseline="0" dirty="0" err="1">
                <a:latin typeface="TimesNewRomanPS-ItalicMT"/>
              </a:rPr>
              <a:t>Hadīś</a:t>
            </a:r>
            <a:r>
              <a:rPr lang="en-ID" sz="1800" b="0" i="1" u="none" strike="noStrike" baseline="0" dirty="0">
                <a:latin typeface="TimesNewRomanPS-ItalicMT"/>
              </a:rPr>
              <a:t>,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Garīb</a:t>
            </a:r>
            <a:r>
              <a:rPr lang="en-ID" sz="1800" b="0" i="1" u="none" strike="noStrike" baseline="0" dirty="0">
                <a:latin typeface="TimesNewRomanPS-ItalicMT"/>
              </a:rPr>
              <a:t> al- </a:t>
            </a:r>
            <a:r>
              <a:rPr lang="en-ID" sz="1800" b="0" i="1" u="none" strike="noStrike" baseline="0" dirty="0" err="1">
                <a:latin typeface="TimesNewRomanPS-ItalicMT"/>
              </a:rPr>
              <a:t>Hadīś</a:t>
            </a:r>
            <a:r>
              <a:rPr lang="en-ID" sz="1800" b="0" i="1" u="none" strike="noStrike" baseline="0" dirty="0">
                <a:latin typeface="TimesNewRomanPS-ItalicMT"/>
              </a:rPr>
              <a:t>,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b="0" i="1" u="none" strike="noStrike" baseline="0" dirty="0">
                <a:latin typeface="TimesNewRomanPS-ItalicMT"/>
              </a:rPr>
              <a:t> an-</a:t>
            </a:r>
            <a:r>
              <a:rPr lang="en-ID" sz="1800" b="0" i="1" u="none" strike="noStrike" baseline="0" dirty="0" err="1">
                <a:latin typeface="TimesNewRomanPS-ItalicMT"/>
              </a:rPr>
              <a:t>Nāsikh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wa</a:t>
            </a:r>
            <a:r>
              <a:rPr lang="en-ID" sz="1800" b="0" i="1" u="none" strike="noStrike" baseline="0" dirty="0">
                <a:latin typeface="TimesNewRomanPS-ItalicMT"/>
              </a:rPr>
              <a:t> al-</a:t>
            </a:r>
            <a:r>
              <a:rPr lang="en-ID" sz="1800" b="0" i="1" u="none" strike="noStrike" baseline="0" dirty="0" err="1">
                <a:latin typeface="TimesNewRomanPS-ItalicMT"/>
              </a:rPr>
              <a:t>Mansūkh</a:t>
            </a:r>
            <a:r>
              <a:rPr lang="en-ID" sz="1800" b="0" i="1" u="none" strike="noStrike" baseline="0" dirty="0">
                <a:latin typeface="TimesNewRomanPS-ItalicMT"/>
              </a:rPr>
              <a:t>,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Talfīq</a:t>
            </a:r>
            <a:r>
              <a:rPr lang="en-ID" sz="1800" b="0" i="1" u="none" strike="noStrike" baseline="0" dirty="0">
                <a:latin typeface="TimesNewRomanPS-ItalicMT"/>
              </a:rPr>
              <a:t> al-</a:t>
            </a:r>
            <a:r>
              <a:rPr lang="en-ID" sz="1800" b="0" i="1" u="none" strike="noStrike" baseline="0" dirty="0" err="1">
                <a:latin typeface="TimesNewRomanPS-ItalicMT"/>
              </a:rPr>
              <a:t>Hadīś</a:t>
            </a:r>
            <a:r>
              <a:rPr lang="en-ID" sz="1800" b="0" i="1" u="none" strike="noStrike" baseline="0" dirty="0">
                <a:latin typeface="TimesNewRomanPS-ItalicMT"/>
              </a:rPr>
              <a:t>,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b="0" i="1" u="none" strike="noStrike" baseline="0" dirty="0">
                <a:latin typeface="TimesNewRomanPS-ItalicMT"/>
              </a:rPr>
              <a:t> ‘</a:t>
            </a:r>
            <a:r>
              <a:rPr lang="en-ID" sz="1800" b="0" i="1" u="none" strike="noStrike" baseline="0" dirty="0" err="1">
                <a:latin typeface="TimesNewRomanPS-ItalicMT"/>
              </a:rPr>
              <a:t>Ilal</a:t>
            </a:r>
            <a:r>
              <a:rPr lang="en-ID" sz="1800" b="0" i="1" u="none" strike="noStrike" baseline="0" dirty="0">
                <a:latin typeface="TimesNewRomanPS-ItalicMT"/>
              </a:rPr>
              <a:t> al-</a:t>
            </a:r>
            <a:r>
              <a:rPr lang="en-ID" sz="1800" b="0" i="1" u="none" strike="noStrike" baseline="0" dirty="0" err="1">
                <a:latin typeface="TimesNewRomanPS-ItalicMT"/>
              </a:rPr>
              <a:t>Hadīś</a:t>
            </a:r>
            <a:r>
              <a:rPr lang="en-ID" sz="1800" b="0" i="1" u="none" strike="noStrike" baseline="0" dirty="0">
                <a:latin typeface="TimesNewRomanPS-ItalicMT"/>
              </a:rPr>
              <a:t>,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i="1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Asbāb</a:t>
            </a:r>
            <a:r>
              <a:rPr lang="en-ID" sz="1800" b="0" i="1" u="none" strike="noStrike" baseline="0" dirty="0">
                <a:latin typeface="TimesNewRomanPS-ItalicMT"/>
              </a:rPr>
              <a:t> al-</a:t>
            </a:r>
            <a:r>
              <a:rPr lang="en-ID" sz="1800" b="0" i="1" u="none" strike="noStrike" baseline="0" dirty="0" err="1">
                <a:latin typeface="TimesNewRomanPS-ItalicMT"/>
              </a:rPr>
              <a:t>Wurūd</a:t>
            </a:r>
            <a:r>
              <a:rPr lang="en-ID" sz="1800" b="0" i="1" u="none" strike="noStrike" baseline="0" dirty="0">
                <a:latin typeface="TimesNewRomanPS-ItalicMT"/>
              </a:rPr>
              <a:t>, dan </a:t>
            </a:r>
            <a:r>
              <a:rPr lang="en-ID" sz="1800" b="0" i="1" u="none" strike="noStrike" baseline="0" dirty="0" err="1">
                <a:latin typeface="TimesNewRomanPS-ItalicMT"/>
              </a:rPr>
              <a:t>Ilmu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Jarh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wa</a:t>
            </a:r>
            <a:r>
              <a:rPr lang="en-ID" sz="1800" b="0" i="1" u="none" strike="noStrike" baseline="0" dirty="0">
                <a:latin typeface="TimesNewRomanPS-ItalicMT"/>
              </a:rPr>
              <a:t> </a:t>
            </a:r>
            <a:r>
              <a:rPr lang="en-ID" sz="1800" b="0" i="1" u="none" strike="noStrike" baseline="0" dirty="0" err="1">
                <a:latin typeface="TimesNewRomanPS-ItalicMT"/>
              </a:rPr>
              <a:t>Ta’dīl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98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10DD-4907-4E21-BCB0-D5E6D7D4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Sejarah </a:t>
            </a:r>
            <a:r>
              <a:rPr lang="en-US" dirty="0" err="1"/>
              <a:t>perkembangan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A847B-D9F1-49FC-84EC-4DFA2DDFA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UcPeriod"/>
            </a:pPr>
            <a:r>
              <a:rPr lang="en-US" dirty="0"/>
              <a:t>Hadis pada Masa Rasulullah saw. </a:t>
            </a:r>
          </a:p>
          <a:p>
            <a:pPr marL="457200" indent="-457200">
              <a:buAutoNum type="alphaUcPeriod"/>
            </a:pPr>
            <a:r>
              <a:rPr lang="en-US" dirty="0" err="1"/>
              <a:t>Hadits</a:t>
            </a:r>
            <a:r>
              <a:rPr lang="en-US" dirty="0"/>
              <a:t> pada Masa </a:t>
            </a:r>
            <a:r>
              <a:rPr lang="en-US" dirty="0" err="1"/>
              <a:t>Sahabat</a:t>
            </a:r>
            <a:endParaRPr lang="en-US" dirty="0"/>
          </a:p>
          <a:p>
            <a:pPr marL="457200" indent="-457200">
              <a:buAutoNum type="alphaUcPeriod"/>
            </a:pPr>
            <a:r>
              <a:rPr lang="en-US" dirty="0" err="1"/>
              <a:t>Hadits</a:t>
            </a:r>
            <a:r>
              <a:rPr lang="en-US" dirty="0"/>
              <a:t> pada Masa </a:t>
            </a:r>
            <a:r>
              <a:rPr lang="en-US" dirty="0" err="1"/>
              <a:t>Tabi’in</a:t>
            </a: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Masa </a:t>
            </a:r>
            <a:r>
              <a:rPr lang="en-US" dirty="0" err="1"/>
              <a:t>Tadwin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Masa </a:t>
            </a:r>
            <a:r>
              <a:rPr lang="en-US" dirty="0" err="1"/>
              <a:t>Seleksi</a:t>
            </a:r>
            <a:r>
              <a:rPr lang="en-US" dirty="0"/>
              <a:t> dan </a:t>
            </a:r>
            <a:r>
              <a:rPr lang="en-US" dirty="0" err="1"/>
              <a:t>Penyempurnaan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Penyusunan</a:t>
            </a:r>
            <a:r>
              <a:rPr lang="en-US" dirty="0"/>
              <a:t> Kitab </a:t>
            </a:r>
            <a:r>
              <a:rPr lang="en-US" dirty="0" err="1"/>
              <a:t>Hadits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0330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E3DA-B1AC-46C1-859C-44E3A793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hadits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al </a:t>
            </a:r>
            <a:r>
              <a:rPr lang="en-US" dirty="0" err="1"/>
              <a:t>qur’an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3583-F42D-425B-B146-871AAA77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UcPeriod"/>
            </a:pP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US" dirty="0"/>
          </a:p>
          <a:p>
            <a:r>
              <a:rPr lang="en-ID" sz="1800" dirty="0" err="1">
                <a:latin typeface="Arial" panose="020B0604020202020204" pitchFamily="34" charset="0"/>
              </a:rPr>
              <a:t>S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ecara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etimologis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berarti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"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komunikasi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cerita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percakapan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baik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dalam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konteks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agama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duniawi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dalam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konteks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sejarah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peristiwa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kejadian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actual.</a:t>
            </a:r>
          </a:p>
          <a:p>
            <a:pPr marL="0" indent="0" algn="l">
              <a:buNone/>
            </a:pPr>
            <a:endParaRPr lang="en-ID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r>
              <a:rPr lang="en-ID" sz="1800" dirty="0" err="1">
                <a:latin typeface="Arial" panose="020B0604020202020204" pitchFamily="34" charset="0"/>
              </a:rPr>
              <a:t>Secara</a:t>
            </a:r>
            <a:r>
              <a:rPr lang="en-ID" sz="1800" dirty="0">
                <a:latin typeface="Arial" panose="020B0604020202020204" pitchFamily="34" charset="0"/>
              </a:rPr>
              <a:t> terminology </a:t>
            </a:r>
            <a:r>
              <a:rPr lang="en-ID" sz="1800" dirty="0" err="1">
                <a:latin typeface="Arial" panose="020B0604020202020204" pitchFamily="34" charset="0"/>
              </a:rPr>
              <a:t>menurut</a:t>
            </a:r>
            <a:r>
              <a:rPr lang="en-ID" sz="1800" dirty="0">
                <a:latin typeface="Arial" panose="020B0604020202020204" pitchFamily="34" charset="0"/>
              </a:rPr>
              <a:t> Ibn </a:t>
            </a:r>
            <a:r>
              <a:rPr lang="en-ID" sz="1800" dirty="0" err="1">
                <a:latin typeface="Arial" panose="020B0604020202020204" pitchFamily="34" charset="0"/>
              </a:rPr>
              <a:t>Taimiyyah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da-DK" sz="1800" b="0" i="0" u="none" strike="noStrike" baseline="0" dirty="0">
                <a:latin typeface="Arial" panose="020B0604020202020204" pitchFamily="34" charset="0"/>
              </a:rPr>
              <a:t>Seluruh yang diriwayatkan dari Rasul SAW sesudah </a:t>
            </a:r>
            <a:r>
              <a:rPr lang="en-ID" sz="1800" dirty="0" err="1">
                <a:latin typeface="Arial" panose="020B0604020202020204" pitchFamily="34" charset="0"/>
              </a:rPr>
              <a:t>k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enabian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dirty="0">
                <a:latin typeface="Arial" panose="020B0604020202020204" pitchFamily="34" charset="0"/>
              </a:rPr>
              <a:t>y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ang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terdiri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perkataan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perbuatan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ikrar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332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EFCA-F684-4F2C-8940-EC5C0A9F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Istilah</a:t>
            </a:r>
            <a:r>
              <a:rPr lang="en-US" dirty="0"/>
              <a:t> lain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1BAA-5A35-4E35-B6E5-0307C8D1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Sunnah :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Sunnah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adalah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seluruh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dirty="0">
                <a:latin typeface="Arial" panose="020B0604020202020204" pitchFamily="34" charset="0"/>
              </a:rPr>
              <a:t>y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ang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datang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Rasul SAW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selain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Al-Qur'an al-Karim,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baik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berupa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perkataan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’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perbuatan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taqirr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yang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dapat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dijadikan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sebagai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dalil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unfitk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menetapkan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hukum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syara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’</a:t>
            </a:r>
            <a:endParaRPr lang="en-US" dirty="0"/>
          </a:p>
          <a:p>
            <a:pPr algn="l"/>
            <a:r>
              <a:rPr lang="en-US" dirty="0"/>
              <a:t>Khabar (</a:t>
            </a:r>
            <a:r>
              <a:rPr lang="en-US" dirty="0" err="1"/>
              <a:t>berita</a:t>
            </a:r>
            <a:r>
              <a:rPr lang="en-US" dirty="0"/>
              <a:t>) :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yaitu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sesuatu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yang </a:t>
            </a:r>
            <a:r>
              <a:rPr lang="fi-FI" sz="1800" b="0" i="0" u="none" strike="noStrike" baseline="0" dirty="0">
                <a:latin typeface="Arial" panose="020B0604020202020204" pitchFamily="34" charset="0"/>
              </a:rPr>
              <a:t>disandarkan kepada Nabi SAW dari perkataan,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perbuatan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taqrir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sifat</a:t>
            </a:r>
            <a:endParaRPr lang="en-US" dirty="0"/>
          </a:p>
          <a:p>
            <a:r>
              <a:rPr lang="en-US" dirty="0" err="1"/>
              <a:t>Atsar</a:t>
            </a:r>
            <a:r>
              <a:rPr lang="en-US" dirty="0"/>
              <a:t> : </a:t>
            </a:r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Nabi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6558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665A-BED9-452F-9069-54CED189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</a:t>
            </a:r>
            <a:r>
              <a:rPr lang="en-US" dirty="0" err="1"/>
              <a:t>Bentuk</a:t>
            </a:r>
            <a:r>
              <a:rPr lang="en-US" dirty="0"/>
              <a:t> –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hadits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950D-5CC4-42F0-AC48-9D4B7AFCD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err="1"/>
              <a:t>Hadits</a:t>
            </a:r>
            <a:r>
              <a:rPr lang="en-US" dirty="0"/>
              <a:t> </a:t>
            </a:r>
            <a:r>
              <a:rPr lang="en-US" dirty="0" err="1"/>
              <a:t>Qauli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Seluruh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Hadis </a:t>
            </a:r>
            <a:r>
              <a:rPr lang="en-ID" sz="1800" dirty="0">
                <a:latin typeface="Arial" panose="020B0604020202020204" pitchFamily="34" charset="0"/>
              </a:rPr>
              <a:t>y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ang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diucapkan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Rasul SAW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untuk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berbagai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tujuan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dalam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berbagai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kesempatan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</a:t>
            </a:r>
          </a:p>
          <a:p>
            <a:pPr algn="l"/>
            <a:r>
              <a:rPr lang="en-ID" sz="1800" dirty="0" err="1">
                <a:latin typeface="Arial" panose="020B0604020202020204" pitchFamily="34" charset="0"/>
              </a:rPr>
              <a:t>Hadits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</a:rPr>
              <a:t>Fi’li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fi-FI" sz="1800" b="0" i="0" u="none" strike="noStrike" baseline="0" dirty="0">
                <a:latin typeface="Arial" panose="020B0604020202020204" pitchFamily="34" charset="0"/>
              </a:rPr>
              <a:t>yaitu seluruh perbuatan aang dilaksanakan oleh Rasul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SAW.</a:t>
            </a:r>
          </a:p>
          <a:p>
            <a:pPr algn="l"/>
            <a:r>
              <a:rPr lang="en-ID" sz="1800" dirty="0" err="1">
                <a:latin typeface="Arial" panose="020B0604020202020204" pitchFamily="34" charset="0"/>
              </a:rPr>
              <a:t>Hadts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</a:rPr>
              <a:t>Taqriri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</a:rPr>
              <a:t>adalah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sv-SE" sz="1800" b="0" i="0" u="none" strike="noStrike" baseline="0" dirty="0">
                <a:latin typeface="Arial" panose="020B0604020202020204" pitchFamily="34" charset="0"/>
              </a:rPr>
              <a:t>adalah diamnya Rasu/ SAW dari </a:t>
            </a:r>
            <a:r>
              <a:rPr lang="fi-FI" sz="1800" b="0" i="0" u="none" strike="noStrike" baseline="0" dirty="0">
                <a:latin typeface="Arial" panose="020B0604020202020204" pitchFamily="34" charset="0"/>
              </a:rPr>
              <a:t>mengingkari perkataan atau perbuatan yang dilalakukan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di </a:t>
            </a:r>
            <a:r>
              <a:rPr lang="en-ID" sz="1800" dirty="0" err="1">
                <a:latin typeface="Arial" panose="020B0604020202020204" pitchFamily="34" charset="0"/>
              </a:rPr>
              <a:t>ha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dapan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pada masa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</a:rPr>
              <a:t>hal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tersebut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diketahuinya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 Hal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tersebut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adakalanya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dengan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pernyataan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persetujuan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penilaian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baik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tidak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pengingkaran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pengakuan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beliau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2481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B04F-8B25-4C32-8960-C9F8ACFB7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</a:t>
            </a:r>
            <a:r>
              <a:rPr lang="en-US" dirty="0" err="1"/>
              <a:t>Kedudukan</a:t>
            </a:r>
            <a:r>
              <a:rPr lang="en-US" dirty="0"/>
              <a:t> </a:t>
            </a:r>
            <a:r>
              <a:rPr lang="en-US" dirty="0" err="1"/>
              <a:t>hadits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al </a:t>
            </a:r>
            <a:r>
              <a:rPr lang="en-US" dirty="0" err="1"/>
              <a:t>qur’an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C3B08-FADD-4178-BA46-B6603AD9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Kedudukan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Hadis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sebagai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Sumber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Ajaran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/Hukum Islam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Dalil</a:t>
            </a:r>
            <a:r>
              <a:rPr lang="en-ID" dirty="0"/>
              <a:t> Al Qur’an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Dalil</a:t>
            </a:r>
            <a:r>
              <a:rPr lang="en-ID" dirty="0"/>
              <a:t> </a:t>
            </a:r>
            <a:r>
              <a:rPr lang="en-ID" dirty="0" err="1"/>
              <a:t>Hadits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Dalil</a:t>
            </a:r>
            <a:r>
              <a:rPr lang="en-ID" dirty="0"/>
              <a:t> Ijma’</a:t>
            </a:r>
          </a:p>
        </p:txBody>
      </p:sp>
    </p:spTree>
    <p:extLst>
      <p:ext uri="{BB962C8B-B14F-4D97-AF65-F5344CB8AC3E}">
        <p14:creationId xmlns:p14="http://schemas.microsoft.com/office/powerpoint/2010/main" val="160020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678B-8ACF-4332-8B4F-B4FFE96C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hadits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al </a:t>
            </a:r>
            <a:r>
              <a:rPr lang="en-US" dirty="0" err="1"/>
              <a:t>qur’an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7C407-B2A9-4783-BC3E-1D1461445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Bayan at </a:t>
            </a:r>
            <a:r>
              <a:rPr lang="en-US" dirty="0" err="1"/>
              <a:t>Taqrir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Bayan at Tafsir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Bayan at </a:t>
            </a:r>
            <a:r>
              <a:rPr lang="en-US" dirty="0" err="1"/>
              <a:t>Tasyri</a:t>
            </a:r>
            <a:r>
              <a:rPr lang="en-US" dirty="0"/>
              <a:t>’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Bayan an </a:t>
            </a:r>
            <a:r>
              <a:rPr lang="en-US" dirty="0" err="1"/>
              <a:t>Nasakh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8809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54D7-85E8-4687-9E59-32DE7B2F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14968"/>
            <a:ext cx="10353761" cy="1326321"/>
          </a:xfrm>
        </p:spPr>
        <p:txBody>
          <a:bodyPr/>
          <a:lstStyle/>
          <a:p>
            <a:r>
              <a:rPr lang="en-US" dirty="0"/>
              <a:t>e.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hadits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al </a:t>
            </a:r>
            <a:r>
              <a:rPr lang="en-US" dirty="0" err="1"/>
              <a:t>qur’an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2BCE-2C77-46AF-9BD2-798818017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541288"/>
            <a:ext cx="10353762" cy="510174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Persamaannya</a:t>
            </a:r>
            <a:endParaRPr lang="en-US" dirty="0"/>
          </a:p>
          <a:p>
            <a:pPr marL="411163" indent="0" algn="l">
              <a:buNone/>
            </a:pP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Hadis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dan Al-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Qur'an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adalah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sama-sama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sumber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ajaran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Islam,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bahkan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pada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hakikatnya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keduanya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adalah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sama-sarna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wahyu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Allah SWT</a:t>
            </a:r>
            <a:endParaRPr lang="en-US" sz="1800" b="0" i="0" u="none" strike="noStrike" baseline="0" dirty="0">
              <a:latin typeface="Arial" panose="020B0604020202020204" pitchFamily="34" charset="0"/>
            </a:endParaRPr>
          </a:p>
          <a:p>
            <a:pPr marL="342900" indent="-342900" algn="l">
              <a:buAutoNum type="arabicPeriod" startAt="2"/>
            </a:pPr>
            <a:r>
              <a:rPr lang="en-US" sz="1800" dirty="0" err="1">
                <a:latin typeface="Arial" panose="020B0604020202020204" pitchFamily="34" charset="0"/>
              </a:rPr>
              <a:t>P</a:t>
            </a:r>
            <a:r>
              <a:rPr lang="en-US" dirty="0" err="1"/>
              <a:t>erbedaannya</a:t>
            </a:r>
            <a:endParaRPr lang="en-US" dirty="0"/>
          </a:p>
          <a:p>
            <a:pPr algn="l"/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Bahwa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Al-Qur'an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adalah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Kalam Allah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bersifat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mukjizat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 </a:t>
            </a:r>
            <a:r>
              <a:rPr lang="sv-SE" sz="1800" b="0" i="0" u="none" strike="noStrike" baseline="0" dirty="0">
                <a:latin typeface="Arial" panose="020B0604020202020204" pitchFamily="34" charset="0"/>
              </a:rPr>
              <a:t>Hadis maknanya bersumber dari Allah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(Hadis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Qudsi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),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Rasul SAW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sendiri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berdasarkan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hidayah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bimbingan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Allah (Hadis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Nabauil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lafaznya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berasal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Rasul SAW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serta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tidak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bersifat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mukjizat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sedangkan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Al-Qur'an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makna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lafaznya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sekaligus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ber-asal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Allah SWT,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bersifat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mukjizat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</a:t>
            </a:r>
          </a:p>
          <a:p>
            <a:pPr algn="l"/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Membaca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Al-Qur'an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hukumnya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adalah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ibadah,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membaca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ayat-ayatnya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di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dalam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shalat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sementara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sv-SE" sz="1800" b="0" i="0" u="none" strike="noStrike" baseline="0" dirty="0">
                <a:latin typeface="Arial" panose="020B0604020202020204" pitchFamily="34" charset="0"/>
              </a:rPr>
              <a:t>tidak demikian halnya dengan Hadis.</a:t>
            </a:r>
          </a:p>
          <a:p>
            <a:pPr algn="l"/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Ditinjau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dari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segi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periwayatannya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tersebut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maka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nash-nash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Al-Qur’an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adalah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bersifat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pasti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wujudnya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atau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qath'i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tsubut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 </a:t>
            </a:r>
            <a:r>
              <a:rPr lang="sv-SE" sz="1800" b="0" i="0" u="none" strike="noStrike" baseline="0" dirty="0">
                <a:latin typeface="Arial" panose="020B0604020202020204" pitchFamily="34" charset="0"/>
              </a:rPr>
              <a:t>Akan halnya Hadis, sebagian besar adalah bersifat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ahad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zhanni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al-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ururud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yaitu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tidak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diriwayatkan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secara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mutawatir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Kalaupun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ada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,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hanya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sedikit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sekali</a:t>
            </a:r>
            <a:r>
              <a:rPr lang="en-ID" sz="180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yang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mutawatir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lalaz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dan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maknanya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ID" sz="1800" b="0" i="0" u="none" strike="noStrike" baseline="0" dirty="0" err="1">
                <a:latin typeface="Arial" panose="020B0604020202020204" pitchFamily="34" charset="0"/>
              </a:rPr>
              <a:t>sekaligus</a:t>
            </a:r>
            <a:r>
              <a:rPr lang="en-ID" sz="1800" b="0" i="0" u="none" strike="noStrike" baseline="0" dirty="0">
                <a:latin typeface="Arial" panose="020B0604020202020204" pitchFamily="34" charset="0"/>
              </a:rPr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449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341</TotalTime>
  <Words>667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Rockwell</vt:lpstr>
      <vt:lpstr>TimesNewRomanPS-ItalicMT</vt:lpstr>
      <vt:lpstr>TimesNewRomanPSMT</vt:lpstr>
      <vt:lpstr>Damask</vt:lpstr>
      <vt:lpstr>PENGANTAR ILMU HADITS, HADITS DAN KEDUDUKAN HADITS DALAM ISLAM</vt:lpstr>
      <vt:lpstr>Pengertian ilmu hadits</vt:lpstr>
      <vt:lpstr>Cabang-cabang ilmu hadits</vt:lpstr>
      <vt:lpstr>Sejarah perkembangan ilmu hadits</vt:lpstr>
      <vt:lpstr>Hubungan hadits dengan al qur’an</vt:lpstr>
      <vt:lpstr>Istilah lain dari hadits</vt:lpstr>
      <vt:lpstr>B. Bentuk – bentuk hadits</vt:lpstr>
      <vt:lpstr>c. Kedudukan hadits terhadap al qur’an</vt:lpstr>
      <vt:lpstr>d. Fungsi hadits terhadap al qur’an</vt:lpstr>
      <vt:lpstr>e. Perbandingan hadits dengan al qur’an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ILMU HADITS, HADITS DAN KEDUDUKAN HADITS DALAM ISLAM</dc:title>
  <dc:creator>Hastuti Baharuddin</dc:creator>
  <cp:lastModifiedBy>Hastuti Baharuddin</cp:lastModifiedBy>
  <cp:revision>4</cp:revision>
  <dcterms:created xsi:type="dcterms:W3CDTF">2022-03-22T03:57:12Z</dcterms:created>
  <dcterms:modified xsi:type="dcterms:W3CDTF">2022-03-23T02:03:23Z</dcterms:modified>
</cp:coreProperties>
</file>